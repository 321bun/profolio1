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5.svg" ContentType="image/svg+xml"/>
  <Override PartName="/ppt/media/image48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3B6F"/>
    <a:srgbClr val="B51B84"/>
    <a:srgbClr val="A42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为大家带来的是“塔映花城”异形台历项目策划方案。这个项目旨在通过一款小小的台历，捕捉广州这座城市最动人的特质：在繁华的都市中心，转身即可拥抱一片万亩湿地。我们希望通过这个产品，让世界看见“广州式现代化”——一种繁华与自然和谐共生的独特魅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将介绍项目的整体概述和核心创意。接着，深入解读项目的选题立意和文化价值。然后，我们会进行详细的市场洞察分析。第四部分是本次方案的核心——产品设计详解。之后是项目的落地规划。最后，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现在我们进入第一部分：项目概述。我们将探讨“塔映花城”台历的核心创意，即如何通过“一轴双城，逐月拼合”的设计，将广州的城市繁华与自然生态巧妙地融合在一起。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名称是“塔映花城”异形台历，定位为全国首款以“中轴线湿地”为核心意象的异形拼合台历。在文化上，它是广州“城市与自然对望”的微型载体；在市场上，它填补了海珠湿地文创品类的空白；在功能上，它不仅是日历，更是桌面美学摆件和文化传播媒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核心创意可以概括为“一体两面，一河两岸，逐月拼合”。我们通过异形切割实现形态创新，让每一页都成为一幅独立的风景画。通过视觉渐变实现叙事创新，带领用户体验从城市到自然的穿越。最后，通过拼合玩法实现互动创新，让用户在年末收获一份亲手完成的圆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我们的目标受众非常明确，主要分为四类：追求品质感的办公人群，热爱分享的文创爱好者，寻求特色纪念品的游客，以及需要高端文化礼品的企业客户。我们的产品设计精准地满足了他们各自的核心诉求。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接下来进入第二部分，选题立意。我们将深入解码海珠湿地作为广州“绿心”的文化基因，阐述项目所承载的三重核心价值。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选题立意建立在三重文化价值之上。首先是地理文化，海珠湿地是全国唯一的中轴线湿地，具有无可比拟的独特性。其次是地域特色文化，它是最新“羊城八景”之一的“塔映花城”，拥有官方文化背书。最后是遗产文化，其“高畦深沟”系统是重要的农业文化遗产，具有深厚的历史底蕴和科普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市场洞察之前，我们需要明确项目的政策支撑和产品形式选择的深层原因。从国家到城市再到区域，我们拥有自上而下的完整政策支持体系。同时，选择异形台历作为载体，是因为它在文化契合度、实用属性和创意属性上都与我们的项目高度匹配，是最佳的呈现形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接下来，我们详细阐述为什么选择“异形台历”这一形式。首先，它在文化上与项目主题高度契合；其次，其实用属性确保了广泛的受众基础；最后，其创意属性能够有效提升产品的市场竞争力。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一个好的创意需要精准的市场洞察。在第三部分，我们将通过PEST分析、市场现状梳理和SWOT分析，来审视项目所处的宏观环境、市场空白与自身定位。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市场之前，我们首先进行了宏观环境分析。从PEST四个维度来看，当前的政治、经济、社会和技术环境都为我们的项目提供了有利的发展条件，特别是政策的支持和市场消费意愿的增强，为项目的成功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场分析显示，我们面临着绝佳的机遇。文创日历市场中，“广州中轴线”主题是空白；海珠湿地已有的86款文创产品中，也没有台历。这为我们提供了明确的品类切入机会。通过SWOT分析，我们清晰地看到，项目的核心优势在于其独特的文化价值和创新的互动形式，同时也需要警惕潜在的竞争和渠道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我们对消费者进行了深入分析。我们的目标客户主要分为四大画像，而他们的购买决策主要受五大因素影响，其中设计的独特性、文化的认同感和互动带来的仪式感是吸引他们的关键。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我们还对市场上的竞品进行了分析。相较于传统文创日历、普通城市文创、海珠湿地现有产品以及其他拼合玩具，我们的项目在互动性、叙事完整性、品类创新和文化内涵方面都具有显著的差异化优势。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最后，我们进行了SWOT分析。项目的核心优势在于其独特的文化价值和创新的互动体验。同时，我们也清醒地认识到自身在品牌和渠道方面的劣势，并密切关注市场机会与潜在威胁，以便制定更科学的策略。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现在，我们进入本次方案的核心部分——产品设计。我们将详细介绍“塔映花城”异形台历的设计理念、规格以及六页插卡的具体设计方案。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的核心概念是“逐月插卡，岁末成卷”。我们创新地采用了6页插卡式设计，每页代表两个月。这种设计不仅方便替换，更重要的是，它构建了一个从自然走向城市的完整叙事。用户在使用过程中，不仅是在记录时间，更是在亲手创作一幅属于自己的“塔映花城”长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前三个月的设计方案。第一页是1到2月的“花海”主题，正面是盛开的宫粉紫荆，反面科普花城故事。第二页是3到4月的“海珠湖”，展现水域生态。第三页是5到6月的“苍鹭”，以灵动的鸟类展现湿地的生命力。每一页的异形轮廓都经过精心设计，兼具美观与主题表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后三个月的设计。第四页是7到8月的“镬耳楼”，展现岭南建筑之美。第五页是9到10月的“果林”，呼应“万亩果园”的历史和“高畦深沟”的农业遗产。最后，第六页是11到12月的“广州塔天际线”，将视线从自然拉回城市，点明“塔映花城”的主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这六页台历全部集齐，用户可以将它们并排拼合，形成一幅总长约90厘米的完整长卷。这幅画卷生动地再现了从湿地花海到广州塔的视觉旅程，寓意着广州中轴线上，自然与城市的和谐共生。这不仅是时间的记录，更是一次完整的文化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一个优秀的创意需要严谨的执行计划。在第五部分，我们将展示从创意到产品的详细落地规划，包括时间线、成本预估和布展方案。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我们制定了详细的时间规划，整个项目从设计到小批量生产完成大约需要6到7周。成本方面，我们进行了严格的测算，按10份计算，单份成本可以控制在14.5元以内，这为后续的定价和市场推广提供了良好的基础。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最后，我们进行总结与展望。回望整个项目，我们不仅设计了一款台历，更构建了一个关于广州的文化故事，希望能让这份文化变得可触可感。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总结来说，“塔映花城”台历的核心价值体现在五个方面：独特的产品形态、深厚的文化内涵、有力的政策支撑、明确的市场空白以及独特的情感体验。它不仅是一个产品，更是一个文化载体和情感连接器。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各位伙伴，这页PPT我们来对项目进行一个深度的复盘与反思。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首先看成果，我们的核心亮点在于“创意独特”，双月台历加拼插长卷的形式非常新颖；同时“文化赋能”做得很扎实，深挖了广州的在地文化；也成功填补了市场的空白。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当然，过程中也遇到了挑战。工艺上的复杂性对品控和成本是个考验；市场教育需要一定的时间成本；而且我们的渠道还比较单一，过度依赖线下。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展望未来，我们有三个方向：一是做IP的系列化开发，保持产品的生命力；二是探索数字化延伸，用AR等技术增强体验；三是进行跨界合作，把我们的产品带入更多的消费场景中去。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最后，我想用这段话来结束今天的汇报：6页插卡，从花海到广州塔，半年时间，亲手拼合出中轴线上城市与自然3公里对望的完整画卷。这，就是我们想献给这座城市的，一份诗意的礼物。谢谢大家。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10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31.png"/><Relationship Id="rId19" Type="http://schemas.openxmlformats.org/officeDocument/2006/relationships/image" Target="../media/image45.svg"/><Relationship Id="rId18" Type="http://schemas.openxmlformats.org/officeDocument/2006/relationships/image" Target="../media/image44.png"/><Relationship Id="rId17" Type="http://schemas.openxmlformats.org/officeDocument/2006/relationships/image" Target="../media/image14.svg"/><Relationship Id="rId16" Type="http://schemas.openxmlformats.org/officeDocument/2006/relationships/image" Target="../media/image43.png"/><Relationship Id="rId15" Type="http://schemas.openxmlformats.org/officeDocument/2006/relationships/image" Target="../media/image42.svg"/><Relationship Id="rId14" Type="http://schemas.openxmlformats.org/officeDocument/2006/relationships/image" Target="../media/image41.png"/><Relationship Id="rId13" Type="http://schemas.openxmlformats.org/officeDocument/2006/relationships/image" Target="../media/image12.svg"/><Relationship Id="rId12" Type="http://schemas.openxmlformats.org/officeDocument/2006/relationships/image" Target="../media/image40.png"/><Relationship Id="rId11" Type="http://schemas.openxmlformats.org/officeDocument/2006/relationships/image" Target="../media/image39.svg"/><Relationship Id="rId10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.sv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6.svg"/><Relationship Id="rId2" Type="http://schemas.openxmlformats.org/officeDocument/2006/relationships/image" Target="../media/image46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6.jpe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7.jpe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0" y="0"/>
            <a:ext cx="584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2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68039" y="1474772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塔映花城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08039" y="1978175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spc="200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城市与自然的诗意对望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0" y="4826000"/>
            <a:ext cx="1016000" cy="381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918843" y="261317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——“塔映花城”异形台历项目策划书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18843" y="3793111"/>
            <a:ext cx="5461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03B6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小组成员：胡彦彬  姚蔼真 程立然 陈颖 刘子祎 张茂婷</a:t>
            </a:r>
            <a:endParaRPr lang="en-US" sz="1800" b="1" i="0" u="none" strike="noStrike">
              <a:solidFill>
                <a:srgbClr val="903B6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r>
              <a:rPr lang="en-US" sz="18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项目概述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一轴双城，逐月拼合的创意构想，以时间为脉络串联城市记忆与未来愿景，勾勒项目的整体蓝图与核心脉络。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r>
              <a:rPr lang="en-US" sz="1800" b="1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项目背景与</a:t>
            </a:r>
            <a:r>
              <a:rPr lang="en-US" sz="18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选题立意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深挖广州绿心的生态、文化与时代三重价值，解码地域文化的独特基因，探寻项目的精神内核与文化根基。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r>
              <a:rPr lang="en-US" sz="18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市场洞察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立足天时地利的城市发展机遇，剖析文创蓝海的市场潜力，直面消费需求变化与行业竞争的双重挑战。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r>
              <a:rPr lang="en-US" sz="18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产品设计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以“六页成卷”为创意形制，从湿地花海的自然诗意，绘至城市天际线的现代风华，打造独具韵味的文创产品。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175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r>
              <a:rPr lang="en-US" sz="18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落地规划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以精耕细作的态度铺排执行路径，明确从创意构思、产品打样到推广落地的关键节点，保障方案的可操作性。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45720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r>
              <a:rPr lang="en-US" sz="18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总结展望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铭记文化传播的初心，聆听城市发展的回响，让文化不仅可观可赏，更可触可感，真正融入市民的生活日常。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833" y="11851"/>
            <a:ext cx="12192000" cy="68457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0" y="1206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项目概述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016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4A6C5B">
                    <a:alpha val="1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cap="flat" cmpd="sng">
            <a:solidFill>
              <a:srgbClr val="3052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4A6C5B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一轴双城，逐月拼合的创意构想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397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6C5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以时间为经纬，将广州的千年古韵与现代繁华交织成卷；借台历的形制，让城市地标与四时风物逐月铺展。在方寸之间，以水墨笔触勾勒花城记忆，打造一份兼具文化底蕴与实用美学的城市文创作品。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“塔映花城”异形台历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545" r="1545"/>
          <a:stretch>
            <a:fillRect/>
          </a:stretch>
        </p:blipFill>
        <p:spPr>
          <a:xfrm>
            <a:off x="762000" y="1651000"/>
            <a:ext cx="4064000" cy="2794000"/>
          </a:xfrm>
          <a:prstGeom prst="rect">
            <a:avLst/>
          </a:prstGeom>
          <a:noFill/>
          <a:ln w="25400" cap="flat" cmpd="sng">
            <a:solidFill>
              <a:srgbClr val="4A6C5B">
                <a:alpha val="25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F5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城市与自然对望</a:t>
            </a:r>
            <a:br>
              <a:rPr lang="en-US" sz="1600" b="0" i="0" u="none" strike="noStrike">
                <a:solidFill>
                  <a:srgbClr val="505F5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600" b="0" i="0" u="none" strike="noStrike">
                <a:solidFill>
                  <a:srgbClr val="505F5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凝练海珠湿地十二景之灵秀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651000"/>
            <a:ext cx="6350000" cy="1079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cap="flat" cmpd="sng">
            <a:solidFill>
              <a:srgbClr val="305241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397500" y="1803400"/>
            <a:ext cx="596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3E52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全国首款以“中轴线湿地”为核心意象的异形拼合台历。打破传统形制，将广州塔地标剪影与湿地生态肌理相融，打造兼具地域标识与艺术质感的文创新品类。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07000" y="2921000"/>
            <a:ext cx="6350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500" y="3111500"/>
            <a:ext cx="330200" cy="330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905500" y="3022600"/>
            <a:ext cx="546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文化内核 · 三重价值共生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F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集地理唯一性、“海珠八景”官方符号与高畦深沟农业遗产于一体，是广州“城市与自然对望”的微型文化载体。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07000" y="4038600"/>
            <a:ext cx="6350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7500" y="4229100"/>
            <a:ext cx="330200" cy="330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905500" y="4140200"/>
            <a:ext cx="546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市场机遇 · 填补品类空白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F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精准切入海珠湿地现有文创体系中“台历类产品”的市场空白，锁定中高端城市文创礼品赛道，适配商务礼赠与文旅纪念场景。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5156200"/>
            <a:ext cx="6350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7500" y="5346700"/>
            <a:ext cx="330200" cy="330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905500" y="5257800"/>
            <a:ext cx="546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多元功能 · 美学与实用兼具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F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既是日常时间管理工具，更是极具设计感的桌面美学摆件，同时承担着传播广州中轴线文化、讲述湿地故事的媒介使命。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核心创意：一体两面，一河两岸，逐月拼合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形态创新 · 异形成画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打破传统规整形制，采用写意异形切割。上半卷雕琢广州塔与CBD的摩登天际线，下半卷勾勒湿地果林、白鹭翩跹的自然野趣。十二页台历独立成景，逐月更替间，将岭南的繁华与清幽揉于方寸之间。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叙事创新 · 时空流转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时间为轴铺展视觉诗篇。一月起笔于珠江新城的繁华盛景，十二月收卷于海珠湿地的生态谧境，中间月份层层晕染、自然过渡。让画面随四季流转，演绎从中轴线到生态绿心的空间跨越，重现“一河两岸”的人文与自然对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互动创新 · 画卷拼合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十二页撕下可拼合成完整的“塔映花城”长卷，将碎片化的美好汇聚成圆满。配套湿地主题印章与种子明信片，让收藏成为可参与的创作，赋予文创产品更深的仪式感与社交温度，让岭南之美可藏、可赏、可传。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A6C5B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让城市的摩登与自然的灵秀，在时光流转中缓缓铺展，共绘独属岭南的诗意画卷 ——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6666" b="-16666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目标受众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397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6C5B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线下文创移动体验站，以“城市绿洲”为载体，</a:t>
            </a:r>
            <a:br>
              <a:rPr lang="en-US" sz="1400" b="0" i="0" u="none" strike="noStrike">
                <a:solidFill>
                  <a:srgbClr val="4A6C5B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400" b="0" i="0" u="none" strike="noStrike">
                <a:solidFill>
                  <a:srgbClr val="4A6C5B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触达都市白领、游客等多元消费场景。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207000" y="1651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334000" y="1778000"/>
            <a:ext cx="2984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办公人群 · 都市菁英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特征：广州CBD白领，追求桌面美学与职场仪式感，注重生活品质的细节。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诉求：实用解压 · 品质质感 · 职场悦己</a:t>
            </a:r>
            <a:endParaRPr lang="en-US" sz="1300" b="1" i="0" u="none" strike="noStrike">
              <a:solidFill>
                <a:srgbClr val="4A6C5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72500" y="1651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699500" y="1778000"/>
            <a:ext cx="2984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文创玩家 · 潮流青年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特征：对原创设计与城市文化高度敏感，热衷社交分享，偏爱独特的文化符号。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诉求：独家设计 · 故事内涵 · 出片属性</a:t>
            </a:r>
            <a:endParaRPr lang="en-US" sz="1300" b="1" i="0" u="none" strike="noStrike">
              <a:solidFill>
                <a:srgbClr val="4A6C5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207000" y="3937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334000" y="4064000"/>
            <a:ext cx="2984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游客群体 · 城市记忆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特征：到访海珠湿地的本地及外地游客，寻找具有地域特色的便携纪念品。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诉求：地域特色 · 轻便易携 · 伴手好礼</a:t>
            </a:r>
            <a:endParaRPr lang="en-US" sz="1200" b="1" i="0" u="none" strike="noStrike">
              <a:solidFill>
                <a:srgbClr val="4A6C5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触达场景：海珠湿地文创车、出口纪念品店</a:t>
            </a:r>
            <a:endParaRPr lang="en-US" sz="1200" b="1" i="0" u="none" strike="noStrike">
              <a:solidFill>
                <a:srgbClr val="4A6C5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572500" y="3937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699500" y="4064000"/>
            <a:ext cx="2984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企业定制 · 商务礼赠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特征：广州本土企业、政府机构及会展主办方，需兼具文化内涵与品牌价值。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诉求：文化调性 · 专属定制 · 品牌共鸣</a:t>
            </a:r>
            <a:endParaRPr lang="en-US" sz="1300" b="1" i="0" u="none" strike="noStrike">
              <a:solidFill>
                <a:srgbClr val="4A6C5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40366" y="1651000"/>
            <a:ext cx="4285634" cy="358775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 t="-16852" b="-16852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6"/>
            <a:ext cx="12192000" cy="68457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016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A6C5B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项目背景与选题立意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cap="flat" cmpd="sng">
            <a:solidFill>
              <a:srgbClr val="3052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55F5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三重价值，解码广州绿心的文化基因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2070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6C5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溯源岭南水乡的千年文脉，探寻生态保护与人文传承共生的时代意义。以海珠湿地为原点，解码城市绿心的深层文化基因，重塑自然生态与城市文明交融的精神地标，为新时代的城市发展注入文化与生态的双重活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三重文化价值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5172" b="5172"/>
          <a:stretch>
            <a:fillRect/>
          </a:stretch>
        </p:blipFill>
        <p:spPr>
          <a:xfrm>
            <a:off x="762000" y="1397000"/>
            <a:ext cx="5207000" cy="2667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1489" b="11489"/>
          <a:stretch>
            <a:fillRect/>
          </a:stretch>
        </p:blipFill>
        <p:spPr>
          <a:xfrm>
            <a:off x="6223000" y="1397000"/>
            <a:ext cx="5207000" cy="2667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3815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5466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地理文化 · 城市绿心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953000"/>
            <a:ext cx="330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全国唯一的城市中轴线国家湿地公园，它是广州名副其实的“绿心”。与广州塔、花城广场同处一条轴线，形成了“从繁华天际线到静谧湿地秘境”的独特空间叙事，构建了人与自然和谐共生的城市生态典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43815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45466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地标IP · 塔映花城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4953000"/>
            <a:ext cx="330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成功入选2025年“羊城八景”，获得官方主流文化的权威背书。深度捆绑广州塔、花城广场等城市地标，不仅拥有得天独厚的自然景观，更具备极高的辨识度与视觉传播力，是城市文化的鲜活名片。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43815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01000" y="45466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农耕智慧 · 文化遗产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4953000"/>
            <a:ext cx="330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其前身为岭南著名的“万亩果园”，独特的“高畦深沟”传统农业系统被列入中国重要农业文化遗产。这一活态的农耕智慧遗存，不仅承载着厚重的历史底蕴，更为生态科普、文化研学提供了珍贵的现实范本。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政策支撑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4318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921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984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国家层面：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大力推进“公园+文创经济”，赋能生态空间价值转化。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4191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4254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城市层面：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“八景文化”被认定为城市文化因子，赋予项目官方文化背书。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5334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5397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区域层面：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海珠区“人民设计师”制度，为文创落地提供平台与支持。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为什么选择“异形台历”这一形式？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86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文化契合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845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台历的时间流逝感与湿地的四季节律性变化形成天然的象征同构。异形设计以具象形态直观呈现“自然肌理与城市轮廓相互映衬”的深层关系，赋予产品独特的人文意境与情感共鸣。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68900" y="2286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实用属性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9845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作为国民接受度极高的经典文创载体，台历拥有长达一年的使用周期，应用场景覆盖居家、办公、礼品等多元领域。它能将湿地的静谧与生机带入都市日常，实现品牌理念的长效渗透。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28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13800" y="2286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创意属性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9845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打破传统台历的刻板形制，异形设计极大地强化了产品的视觉冲击力与艺术创意，显著提升了产品的审美价值与市场辨识度。这一设计精准契合当下消费者对“颜值、内涵、实用三位一体”的高品质文创消费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4A6C5B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“以文创为媒，让湿地之美在时光流转中生生不息，成为连接自然生态与城市生活的温情纽带。”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6"/>
            <a:ext cx="12192000" cy="68457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A6C5B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市场洞察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spc="200">
                <a:solidFill>
                  <a:srgbClr val="4A6C5B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天时地利，文创蓝海的机遇与挑战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4376">
            <a:off x="762032" y="4883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6C5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762000" y="5270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C4B44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立足文化复兴的时代潮头，以宏观视野洞察产业风向，从政策、经济、社会与技术多维解构市场格局。我们将拨开行业迷雾，探寻传统文化与现代消费的共鸣点，为项目挖掘独有的市场机遇与增长新极，构筑坚实的战略根基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宏观环境分析（PEST）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政治环境 · 政策红利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国家鼓励公园文创经济，海珠区出台助企“九条”，广州推行“必购必带”城市礼物政策，形成政策组合拳。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利好：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恰逢政策窗口期，项目高度契合政府导向，可借助官方赛事与评选活动，成为品牌展示与价值传播的优质出口。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经济环境 · 市场扩容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286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广州文化产业营收1628亿元（+10.6%），文创礼品市场规模破5000亿元（+15%），消费市场持续扩容。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利好：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市场容量大且消费意愿强，需结合客群定位制定灵活定价策略，兼顾品质感与大众消费的性价比需求。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25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社会环境 · 国潮崛起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699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“国潮”IP与本土文化消费崛起，仪式感经济升温，集章打卡、文创收集等玩法在年轻群体中形成社交潮流。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利好：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目标客群的消费习惯已成熟，集章、文创拼合等互动玩法自带社交传播属性，易激发用户自发分享与打卡。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865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425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技术环境 · 赋能创新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699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文创制作工艺成熟稳定，AI设计工具降低创意门槛，海珠湿地已开展数字文创与线上线下融合的初步探索。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利好：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产品落地与生产的技术门槛低，设计成本可控，可依托数字技术快速迭代文创样式，适配多元化消费需求。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市场现状分析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4765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文创日历市场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2385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市场成熟，但“广州中轴线”主题存在空白。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159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699000" y="24765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城市主题文创市场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0" y="32385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产品形式单一，缺少“串联叙事”，“塔映花城”IP处于热度上升期，存在品类认知抢占机会。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2159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382000" y="24765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海珠湿地文创现状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36000" y="38735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已开发86款产品，渠道成熟（年游客近千万），但</a:t>
            </a:r>
            <a:r>
              <a:rPr lang="en-US" sz="1300" b="1" i="0" u="none" strike="noStrike">
                <a:solidFill>
                  <a:srgbClr val="A838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尚无台历类产品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，存在明确的品类空白。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消费者分析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四大目标消费者画像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765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95400" y="24638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办公人群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8956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追求高效与美学兼具，注重实用与装饰的平衡，是产品日常高频使用与桌面点缀的核心群体。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2286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4765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962400" y="24638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文创爱好者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8956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热衷文化创意与艺术表达，对独特设计与文化内涵有高敏感度，愿意为独特的审美价值买单。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2545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4450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95400" y="44323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游客群体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8641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寻求承载城市记忆的特色伴手礼，注重地域文化符号与纪念意义，偏好便携且有故事的好物。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29000" y="42545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44450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962400" y="44323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企业定制客户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19500" y="48641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关注品牌文化赋能与商务赠礼需求，注重产品的品质感、定制化专属价值及企业形象的契合度。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651000"/>
            <a:ext cx="546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五大核心购买决策因素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2286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25273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2362200"/>
            <a:ext cx="4762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视觉设计：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异形立体拼合结构打破平面束缚，带来独特的视觉冲击力与艺术美感，第一眼即令人心动。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31115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33528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3187700"/>
            <a:ext cx="4762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文化共鸣：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根植“塔映花城”的城市IP底蕴，唤醒地域情感与文化认同，让产品成为承载城市记忆的载体。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3937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41783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858000" y="4013200"/>
            <a:ext cx="4762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轻享定价：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38-68元的亲民价格带，属于无压力的“轻文创”消费，契合大众日常自用与赠礼的心理预期。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47625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3500" y="50038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858000" y="4838700"/>
            <a:ext cx="4762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实用美学：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兼具清晰的日期查阅功能与雅致的桌面摆件属性，打破文创产品“中看不中用”的刻板印象。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5588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13500" y="58293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858000" y="5664200"/>
            <a:ext cx="4762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互动仪式：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“逐月拼合”的玩法赋予沉浸式体验，在动手组装中感受独特的仪式感与“慢慢变美”的乐趣。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竞品分析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传统文创日历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代表产品：单向历、豆瓣日历等经典文创日历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2724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857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突破传统单向翻阅形式，融入趣味拼合互动玩法；以独特的城市叙事为内容脉络，搭配灵动的异形设计，让日历不仅是时间记录工具，更是沉浸式的文化体验载体。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城市主题文创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286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代表产品：各地城市旅游明信片、纪念冰箱贴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6413508" y="2724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2857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兼顾实用功能与艺术收藏价值，内容叙事更具完整性与连贯性；有效拉长用户的体验周期，从即时的旅游纪念延伸为长期的生活陪伴，赋予文创产品更深层的情感联结。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25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海珠湿地现有文创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699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代表产品：湿地主题丝巾、纪念徽章、定制水杯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952508" y="5137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52500" y="5270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填补品类空白，打造湿地首款文创台历产品；以更强的互动性与社交话题性实现市场突围，跳出传统文创的静态陈列模式，激发用户的主动分享欲与传播力。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25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异形与拼合类玩具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699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代表产品：艺术拼图、乐高创意积木套装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6413508" y="5137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13500" y="5270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将趣味拼合体验与日常实用功能深度结合，注入深厚的湿地生态文化内涵；相比单纯的玩具类产品更具性价比与实用性，兼顾休闲娱乐性与生活场景的高频使用。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SWOT分析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50800" cy="3048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93800" y="1879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优势 Strengths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40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文化内核独特，三重文化叠加构筑核心竞争壁垒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形式与主题高度契合，打造不可复制的沉浸体验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强互动属性激发游客参与，提升自发传播意愿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轻量化运营模式，成本结构灵活且可控性强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50800" cy="3048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91300" y="1879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劣势 Weaknesses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4135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2540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品牌初期市场认知度较低，声量积累需要周期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内容打磨与工艺制作门槛较高，量产难度大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线下销售渠道布局尚浅，触达终端效率有限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产品侧重文化体验，相较于实用品功能属性偏弱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381500"/>
            <a:ext cx="50800" cy="3048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93800" y="4356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机会 Opportunities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10160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0165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文旅融合与乡村振兴政策红利持续释放，利好项目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“八景文化”与国风美学正成为文旅消费的新风口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小红书、抖音等平台的内容种草带来流量红利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企业定制与礼品市场需求旺盛，B端潜力巨大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595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381500"/>
            <a:ext cx="50800" cy="3048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91300" y="4356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威胁 Threats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64135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13500" y="50165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文旅创意产品市场同质化严重，竞争日趋白热化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创意模式易被模仿，抄袭与跟风现象难以杜绝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景区渠道存在合作壁垒，入场与推广成本较高</a:t>
            </a:r>
            <a:b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消费者审美迭代迅速，易产生体验疲劳与倦怠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7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016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A6C5B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产品设计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cap="flat" cmpd="sng">
            <a:solidFill>
              <a:srgbClr val="3052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699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200" b="0" i="0" u="none" strike="noStrike">
                <a:solidFill>
                  <a:srgbClr val="334138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六页成卷，从湿地花海到城市天际线</a:t>
            </a:r>
            <a:br>
              <a:rPr lang="en-US" sz="2200" b="0" i="0" u="none" strike="noStrike">
                <a:solidFill>
                  <a:srgbClr val="334138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2200" b="0" i="0" u="none" strike="noStrike">
                <a:solidFill>
                  <a:srgbClr val="334138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将自然意趣与都市风华揉入纸间，让时间在水墨晕染中沉淀成诗，每一帧皆是独有的东方美学回响。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0" y="5842000"/>
            <a:ext cx="152400" cy="152400"/>
          </a:xfrm>
          <a:prstGeom prst="ellipse">
            <a:avLst/>
          </a:prstGeom>
          <a:solidFill>
            <a:srgbClr val="4A6C5B">
              <a:alpha val="40000"/>
            </a:srgbClr>
          </a:solidFill>
          <a:ln cap="flat" cmpd="sng">
            <a:solidFill>
              <a:srgbClr val="30524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922000" y="5867400"/>
            <a:ext cx="101600" cy="101600"/>
          </a:xfrm>
          <a:prstGeom prst="ellipse">
            <a:avLst/>
          </a:prstGeom>
          <a:solidFill>
            <a:srgbClr val="4A6C5B">
              <a:alpha val="20000"/>
            </a:srgbClr>
          </a:solidFill>
          <a:ln cap="flat" cmpd="sng">
            <a:solidFill>
              <a:srgbClr val="30524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逐月插卡，岁末成卷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49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形态之巧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突破传统台历形制，打造6页异形插卡设计，每页承载两月光阴。随时间流转逐页更替，待岁末集齐六页，便能无缝拼合为「塔映花城」长卷，让时间的流逝化作可珍藏的艺术图景。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349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叙事之韵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1750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以「自然向城」为叙事主线，串联花海、海珠湖、苍鹭、镬耳楼、果林与广州塔六幕景致。从山野灵秀到都市繁华，层层递进勾勒岭南风物的诗意脉络，让翻阅成为一场沉浸式的城市文化巡礼。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349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互动之趣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1750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在「抽旧页、插新章」的仪式感中感知岁月更迭，每一次操作都是与时光的温柔对话。岁末亲手拼合长卷的瞬间，将一整年的零散记忆凝聚成完整的视觉诗篇，赋予时间可触摸、可收藏的温度。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让时间在开合之间，慢慢绘就一城的四季风华 ——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六页物象设计方案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077" b="1077"/>
          <a:stretch>
            <a:fillRect/>
          </a:stretch>
        </p:blipFill>
        <p:spPr>
          <a:xfrm>
            <a:off x="1587500" y="1841500"/>
            <a:ext cx="177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463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/ 花海 · 1-2月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508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正面以宫粉紫荆花海异形轮廓铺陈烂漫，搭配双月日历；反面深挖“花城”记忆，讲述花海背后的城市温情与春日盛景。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077" b="1077"/>
          <a:stretch>
            <a:fillRect/>
          </a:stretch>
        </p:blipFill>
        <p:spPr>
          <a:xfrm>
            <a:off x="5207000" y="1841500"/>
            <a:ext cx="177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508500" y="463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/ 海珠湖 · 3-4月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508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正面绘海珠湖碧波与广州塔交相辉映，承载双月时光；反面聚焦城市“绿心”，诠释其涵养生态、调节气候的自然价值。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t="1077" b="1077"/>
          <a:stretch>
            <a:fillRect/>
          </a:stretch>
        </p:blipFill>
        <p:spPr>
          <a:xfrm>
            <a:off x="8826500" y="1841500"/>
            <a:ext cx="177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128000" y="463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/ 苍鹭 · 5-6月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508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正面定格苍鹭优雅身姿，尽显湿地灵动之美；反面解读生态密码，以苍鹭为引，展现生物多样性与自然和谐共生之景。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六页物象设计方案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077" b="1077"/>
          <a:stretch>
            <a:fillRect/>
          </a:stretch>
        </p:blipFill>
        <p:spPr>
          <a:xfrm>
            <a:off x="1587500" y="1841500"/>
            <a:ext cx="177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4699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镬耳楼 · 岭南风骨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5143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正面取镬耳山墙与岭南牌坊之形，承载盛夏古韵；反面深析“镬耳屋”的建筑智慧，讲述广府古建的人文底蕴与美学匠心。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077" b="1077"/>
          <a:stretch>
            <a:fillRect/>
          </a:stretch>
        </p:blipFill>
        <p:spPr>
          <a:xfrm>
            <a:off x="5207000" y="1841500"/>
            <a:ext cx="177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508500" y="4699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果林 · 岭南佳果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5143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以龙眼黄皮果树为轮廓，镌刻金秋丰收之景；反面溯源“高畦深沟”的农耕智慧，诉说万亩果林的百年传承与生态文化遗产。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t="1077" b="1077"/>
          <a:stretch>
            <a:fillRect/>
          </a:stretch>
        </p:blipFill>
        <p:spPr>
          <a:xfrm>
            <a:off x="8826500" y="1841500"/>
            <a:ext cx="177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128000" y="4699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塔影 · 花城新韵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5143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勾勒广州塔与东西双塔天际线，定格冬月风华；反面以“塔映花城”为题，诠释现代都市地标与自然生态的共生共融之美。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拼合画面说明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4A6C5B">
              <a:alpha val="8000"/>
            </a:srgbClr>
          </a:solidFill>
          <a:ln cap="flat" cmpd="sng">
            <a:solidFill>
              <a:srgbClr val="305241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/ 长卷连轴，移步异景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页台历依序并置，化作「塔映花城」的完整长卷。循画卷徐徐展开，从海珠湿地的花海秘境出发，掠过海珠湖的粼粼波光，偶遇苍鹭与镬耳古建的相映成趣，穿行于硕果累累的百年果林，最终抵达广州塔下，在流转的画面中完成一场自然与都市交织的沉浸式漫游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412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31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/ 中轴共生，城景交融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88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“中轴线上，自然与城市从南到北3公里渐进共生。”这不仅是地理空间的铺展，更是广州生态人文的缩影。让日常的时间记录，成为触碰城市诗意与自然灵韵的窗口，藏四季风华于一纸台历。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6223000" y="1968500"/>
            <a:ext cx="5207000" cy="2921000"/>
          </a:xfrm>
          <a:prstGeom prst="rect">
            <a:avLst/>
          </a:prstGeom>
          <a:noFill/>
          <a:ln w="25400" cap="flat" cmpd="sng">
            <a:solidFill>
              <a:srgbClr val="4A6C5B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4A6C5B">
                <a:alpha val="1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223000" y="5080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“塔映花城”拼合长卷效果示意</a:t>
            </a:r>
            <a:br>
              <a:rPr lang="en-US" sz="14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4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自然野趣与都市地标在此诗意相逢，勾勒城市中轴的灵动脉络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6"/>
            <a:ext cx="12192000" cy="68457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4A6C5B">
                    <a:alpha val="3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落地规划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A6C5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445000"/>
            <a:ext cx="952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精耕细作，从创意到产品的路径图</a:t>
            </a:r>
            <a:br>
              <a:rPr lang="en-US" sz="20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20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以匠心致初心，将抽象灵感凝练为可落地的执行蓝图，</a:t>
            </a:r>
            <a:br>
              <a:rPr lang="en-US" sz="20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2000" b="0" i="0" u="none" strike="noStrike">
                <a:solidFill>
                  <a:srgbClr val="4A6C5B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在时间与空间的维度里，勾勒出步步为营的实现路径。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541000" y="5334000"/>
            <a:ext cx="1016000" cy="1016000"/>
          </a:xfrm>
          <a:prstGeom prst="ellipse">
            <a:avLst/>
          </a:prstGeom>
          <a:solidFill>
            <a:srgbClr val="4A6C5B">
              <a:alpha val="10000"/>
            </a:srgbClr>
          </a:solidFill>
          <a:ln cap="flat" cmpd="sng">
            <a:solidFill>
              <a:srgbClr val="30524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时间规划与成本预估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15" r="115"/>
          <a:stretch>
            <a:fillRect/>
          </a:stretch>
        </p:blipFill>
        <p:spPr>
          <a:xfrm>
            <a:off x="762000" y="1524000"/>
            <a:ext cx="4318000" cy="2501900"/>
          </a:xfrm>
          <a:prstGeom prst="rect">
            <a:avLst/>
          </a:prstGeom>
          <a:noFill/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4A6C5B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2545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全流程周期把控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D3C32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整体周期规划为6至7周，采用“设计先行、精细打样、稳步量产”的推进节奏。前四周聚焦创意落地与样品确认，确保视觉与工艺完美契合；后三周侧重生产与宣发筹备，为最终的呈现效果预留充足的优化与调整空间，保障项目高品质交付。</a:t>
            </a:r>
            <a:endParaRPr lang="en-US" sz="1300" b="0" i="0" u="none" strike="noStrike">
              <a:solidFill>
                <a:srgbClr val="2D3C32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461000" y="1524000"/>
            <a:ext cx="609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51500" y="16510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关键节点推进表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51500" y="2095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W1 概念设计：</a:t>
            </a: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定调12月物象与包装风格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W2-3 深化设计：</a:t>
            </a: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完成插画绘制与版式定版</a:t>
            </a:r>
            <a:endParaRPr lang="en-US" sz="1300" b="0" i="0" u="none" strike="noStrike">
              <a:solidFill>
                <a:srgbClr val="2D3C32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W4 刀模打样：</a:t>
            </a: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定制异形刀模并产出白样</a:t>
            </a:r>
            <a:endParaRPr lang="en-US" sz="1300" b="0" i="0" u="none" strike="noStrike">
              <a:solidFill>
                <a:srgbClr val="2D3C32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509000" y="2095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W5 细节优化：</a:t>
            </a: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校准色彩还原与裁切精度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W6 批量制作：</a:t>
            </a: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完成印刷、裁切与组装</a:t>
            </a:r>
            <a:endParaRPr lang="en-US" sz="1300" b="0" i="0" u="none" strike="noStrike">
              <a:solidFill>
                <a:srgbClr val="2D3C32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W7 宣发筹备：</a:t>
            </a: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拍摄宣传物料与布展布置</a:t>
            </a:r>
            <a:endParaRPr lang="en-US" sz="1300" b="0" i="0" u="none" strike="noStrike">
              <a:solidFill>
                <a:srgbClr val="2D3C32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461000" y="3746500"/>
            <a:ext cx="6096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651500" y="38735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单份成本拆解（按10份起订测算）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51500" y="4381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🪓 异形刀模费：</a:t>
            </a: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5.0 元/份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09000" y="4381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🖨️ 专色印刷费：</a:t>
            </a: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6.0 元/份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51500" y="495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📦 特种纸包装：</a:t>
            </a: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2.0 元/份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509000" y="495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C3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🎁 定制附件包：</a:t>
            </a:r>
            <a:r>
              <a:rPr lang="en-US" sz="13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1.5 元/份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51500" y="5537200"/>
            <a:ext cx="5715000" cy="431800"/>
          </a:xfrm>
          <a:prstGeom prst="roundRect">
            <a:avLst>
              <a:gd name="adj" fmla="val 0"/>
            </a:avLst>
          </a:prstGeom>
          <a:solidFill>
            <a:srgbClr val="4A6C5B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778500" y="56007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6C5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合计单份成本：14.5元 （目标控制在15元以内，预算可控）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6"/>
            <a:ext cx="12192000" cy="68457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016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4A6C5B">
                    <a:alpha val="1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6C5B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初心与回响，让文化可触可感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826000"/>
            <a:ext cx="914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33333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以岭南文化为墨，将广州的街巷烟火与古建风华凝练成触手可及的美好。这份文创不仅是时间的刻度，更是文化的回响，让每一次翻阅都成为与这座城市的温柔对话，让传统文化在现代生活中生生不息，历久弥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31500" y="5524500"/>
            <a:ext cx="889000" cy="889000"/>
          </a:xfrm>
          <a:prstGeom prst="ellipse">
            <a:avLst/>
          </a:prstGeom>
          <a:solidFill>
            <a:srgbClr val="4A6C5B">
              <a:alpha val="0"/>
            </a:srgbClr>
          </a:solidFill>
          <a:ln w="25400" cap="flat" cmpd="sng">
            <a:solidFill>
              <a:srgbClr val="4A6C5B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项目核心价值总结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65200" y="1854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独特形态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5200" y="2336800"/>
            <a:ext cx="2971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首创“双月合页+插卡拼合”结构，在文创日历赛道中独具辨识度。6页精简设计大幅降低操作负担，兼顾创意美学与使用便捷性。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97400" y="1854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文化赋能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97400" y="2336800"/>
            <a:ext cx="2971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叠加地理唯一性、“羊城八景”官方符号与高畦深沟农业遗产三重底蕴。既是精致的桌面摆件，更是传递在地文化的微型科普卡片。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264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229600" y="1854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政策红利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29600" y="2336800"/>
            <a:ext cx="2971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紧扣国家“公园+文创”经济发展导向，依托官方“八景文化”认定，叠加海珠区“人民设计师”制度支持，政策契合度极高。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275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65200" y="4330700"/>
            <a:ext cx="4800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市场蓝海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" y="4813300"/>
            <a:ext cx="4800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海珠湿地已开发86款文创产品，但台历品类仍为空白。精准填补市场缺口，同时满足游客纪念收藏、企业商务伴手礼及市民日常使用的多元需求。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275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12700" cap="flat" cmpd="sng">
            <a:solidFill>
              <a:srgbClr val="4A6C5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26200" y="4330700"/>
            <a:ext cx="4800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 情感共鸣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26200" y="4813300"/>
            <a:ext cx="4800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通过逐页插卡、岁末拼合的仪式感设计，让使用者在时间流转中体验参与感，最终完成“半年成画”的轻度成就感，赋予产品超越实用的情感价值。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1016000"/>
            <a:ext cx="3810000" cy="3810000"/>
          </a:xfrm>
          <a:prstGeom prst="ellipse">
            <a:avLst/>
          </a:prstGeom>
          <a:solidFill>
            <a:srgbClr val="FFE4E1">
              <a:alpha val="30000"/>
            </a:srgbClr>
          </a:solidFill>
          <a:ln cap="flat" cmpd="sng">
            <a:solidFill>
              <a:srgbClr val="E6B9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4445000" cy="4445000"/>
          </a:xfrm>
          <a:prstGeom prst="ellipse">
            <a:avLst/>
          </a:prstGeom>
          <a:solidFill>
            <a:srgbClr val="DCFCE7">
              <a:alpha val="30000"/>
            </a:srgbClr>
          </a:solidFill>
          <a:ln cap="flat" cmpd="sng">
            <a:solidFill>
              <a:srgbClr val="AFE3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0" y="5080000"/>
            <a:ext cx="2540000" cy="2540000"/>
          </a:xfrm>
          <a:prstGeom prst="ellipse">
            <a:avLst/>
          </a:prstGeom>
          <a:solidFill>
            <a:srgbClr val="E0F2FE">
              <a:alpha val="30000"/>
            </a:srgbClr>
          </a:solidFill>
          <a:ln cap="flat" cmpd="sng">
            <a:solidFill>
              <a:srgbClr val="B3D1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B5B4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项目复盘与团队反思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3556000" cy="4445000"/>
          </a:xfrm>
          <a:prstGeom prst="roundRect">
            <a:avLst>
              <a:gd name="adj" fmla="val 0"/>
            </a:avLst>
          </a:prstGeom>
          <a:solidFill>
            <a:srgbClr val="F9EDEF">
              <a:alpha val="80000"/>
            </a:srgbClr>
          </a:solidFill>
          <a:ln w="12700" cap="flat" cmpd="sng">
            <a:solidFill>
              <a:srgbClr val="D199A8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193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6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成果与亮点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762013" y="2533650"/>
            <a:ext cx="3048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27E8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2794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创意独特 · 形式创新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首创“双月台历+拼插长卷”形态，打破传统文创的平面限制，让日历兼具艺术陈列价值与沉浸式的手工互动趣味。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87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文化赋能 · 在地深耕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深度挖掘广州“羊城八景”与湿地生态底蕴，将在地文化符号融入设计，赋予产品独特的城市记忆与情感共鸣。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市场蓝海 · 品类填补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精准切入海珠湿地文创日历的市场空白，兼具收藏价值与实用属性，在文旅纪念品市场中展现出极高的差异化潜力。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0" y="1651000"/>
            <a:ext cx="3556000" cy="4445000"/>
          </a:xfrm>
          <a:prstGeom prst="roundRect">
            <a:avLst>
              <a:gd name="adj" fmla="val 0"/>
            </a:avLst>
          </a:prstGeom>
          <a:solidFill>
            <a:srgbClr val="EDF3F7">
              <a:alpha val="80000"/>
            </a:srgbClr>
          </a:solidFill>
          <a:ln w="12700" cap="flat" cmpd="sng">
            <a:solidFill>
              <a:srgbClr val="9CB2B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193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7D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挑战与不足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2533650"/>
            <a:ext cx="3048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694A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2794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工艺壁垒 · 品控考验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异形裁切与复杂的拼插结构对生产精度要求极高，量产过程中需在生产成本控制与产品品质稳定性之间寻找平衡。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2000" y="387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认知门槛 · 市场教育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“半年成卷”的创新玩法对消费者存在一定认知门槛，需投入额外的营销精力进行玩法引导与价值理念的传递。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572000" y="4953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渠道单一 · 依赖线下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初期销售高度依赖景区线下渠道，线上电商运营及跨界分销渠道的拓展力度不足，影响了产品的市场覆盖面。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1651000"/>
            <a:ext cx="3556000" cy="4445000"/>
          </a:xfrm>
          <a:prstGeom prst="roundRect">
            <a:avLst>
              <a:gd name="adj" fmla="val 0"/>
            </a:avLst>
          </a:prstGeom>
          <a:solidFill>
            <a:srgbClr val="EFF4F0">
              <a:alpha val="80000"/>
            </a:srgbClr>
          </a:solidFill>
          <a:ln w="12700" cap="flat" cmpd="sng">
            <a:solidFill>
              <a:srgbClr val="9EB2A2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90000" y="193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27C6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未来展望与规划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382013" y="2533650"/>
            <a:ext cx="3048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94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382000" y="2794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IP系列化 · 主题迭代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围绕“城市中轴线”“岭南四季”等主题开发续作，打造可持续的文创IP矩阵，不断激活品牌活力与市场关注度。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382000" y="387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数实融合 · 体验升级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引入AR实景互动、线上打卡社区等数字化玩法，打通线上线下体验，增强用户粘性，让文创产品更具传播性。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382000" y="4953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跨界破圈 · 场景延伸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联动茶饮、书店、艺术空间等品牌开展联名，将文创产品融入更多日常消费场景，拓宽触达边界，实现互利共赢。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286000" y="2794000"/>
            <a:ext cx="762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从花海到广州塔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286000" y="4000500"/>
            <a:ext cx="762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A6C5B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六页插卡铺展城市脉络，一年时光凝萃匠心笔触。在广州中轴之上，亲手拼合出一幅自然花海与地标天际线三公里对望的画卷，让城与野的呼吸在此间温柔共鸣。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53975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C5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这，便是我们想献给这座城市的，一份温柔的诗意礼物。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7099</Words>
  <Application>WPS 演示</Application>
  <PresentationFormat/>
  <Paragraphs>417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川行</cp:lastModifiedBy>
  <cp:revision>2</cp:revision>
  <dcterms:created xsi:type="dcterms:W3CDTF">2026-06-22T04:23:38Z</dcterms:created>
  <dcterms:modified xsi:type="dcterms:W3CDTF">2026-06-22T04:30:29Z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{"Label":"1","ContentProducer":"001191110102MACQD9K64010000","ProduceID":"7654063741190097868","ReservedCode1":"","ContentPropagator":"","PropagateID":"","ReservedCode2":""}</vt:lpwstr>
  </property>
  <property fmtid="{D5CDD505-2E9C-101B-9397-08002B2CF9AE}" pid="3" name="ICV">
    <vt:lpwstr>740EBC22C85D408A9862538B548D619B_13</vt:lpwstr>
  </property>
  <property fmtid="{D5CDD505-2E9C-101B-9397-08002B2CF9AE}" pid="4" name="KSOProductBuildVer">
    <vt:lpwstr>2052-12.1.0.26895</vt:lpwstr>
  </property>
</Properties>
</file>